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5200" b="1">
                <a:solidFill>
                  <a:srgbClr val="6C63FF"/>
                </a:solidFill>
                <a:latin typeface="Calibri"/>
              </a:defRPr>
            </a:pPr>
            <a:r>
              <a:t>NIVESH SAATHI</a:t>
            </a:r>
          </a:p>
          <a:p>
            <a:pPr algn="ctr">
              <a:spcAft>
                <a:spcPts val="4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Your AI-Powered Investment Companion for Bharat</a:t>
            </a:r>
          </a:p>
          <a:p>
            <a:pPr algn="ctr">
              <a:spcAft>
                <a:spcPts val="4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400"/>
              </a:spcAft>
              <a:defRPr sz="2000" b="0">
                <a:solidFill>
                  <a:srgbClr val="94A3B8"/>
                </a:solidFill>
                <a:latin typeface="Calibri"/>
              </a:defRPr>
            </a:pPr>
            <a:r>
              <a:t>Making investing as simple as chatting with a friend.</a:t>
            </a:r>
          </a:p>
          <a:p>
            <a:pPr algn="ctr">
              <a:spcAft>
                <a:spcPts val="400"/>
              </a:spcAft>
              <a:defRPr sz="1600" b="0">
                <a:solidFill>
                  <a:srgbClr val="34D399"/>
                </a:solidFill>
                <a:latin typeface="Calibri"/>
              </a:defRPr>
            </a:pPr>
            <a:r>
              <a:t>Conversational AI  ·  Jarvis-Level Intelligence  ·  India-First</a:t>
            </a:r>
          </a:p>
          <a:p>
            <a:pPr algn="ctr">
              <a:spcAft>
                <a:spcPts val="400"/>
              </a:spcAft>
              <a:defRPr sz="30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400"/>
              </a:spcAft>
              <a:defRPr sz="1800" b="0">
                <a:solidFill>
                  <a:srgbClr val="64748B"/>
                </a:solidFill>
                <a:latin typeface="Calibri"/>
              </a:defRPr>
            </a:pPr>
            <a:r>
              <a:t>🤝  🇮🇳  Built with ❤️ for Bharat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200 Million Indians Have Money to Invest — But Don't.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India is one of the world's fastest-growing economies, yet only 3% of Indians invest in equities.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25603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7171"/>
                </a:solidFill>
                <a:latin typeface="Calibri"/>
              </a:defRPr>
            </a:pPr>
            <a:r>
              <a:t>200M+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Indians with disposable</a:t>
            </a:r>
            <a:br/>
            <a:r>
              <a:t>income who don't invest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194560"/>
            <a:ext cx="25603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7171"/>
                </a:solidFill>
                <a:latin typeface="Calibri"/>
              </a:defRPr>
            </a:pPr>
            <a:r>
              <a:t>5,000+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Mutual funds create</a:t>
            </a:r>
            <a:br/>
            <a:r>
              <a:t>decision paralysis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194560"/>
            <a:ext cx="25603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7171"/>
                </a:solidFill>
                <a:latin typeface="Calibri"/>
              </a:defRPr>
            </a:pPr>
            <a:r>
              <a:t>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Equity participation</a:t>
            </a:r>
            <a:br/>
            <a:r>
              <a:t>vs 55% in the 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2194560"/>
            <a:ext cx="25603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7171"/>
                </a:solidFill>
                <a:latin typeface="Calibri"/>
              </a:defRPr>
            </a:pPr>
            <a:r>
              <a:t>78%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Millennials say investing</a:t>
            </a:r>
            <a:br/>
            <a:r>
              <a:t>is 'too complicated'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49039"/>
            <a:ext cx="2560320" cy="2560320"/>
          </a:xfrm>
          <a:prstGeom prst="roundRect">
            <a:avLst/>
          </a:prstGeom>
          <a:solidFill>
            <a:srgbClr val="1E1010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58767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📚  Financial Jargon Barrier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51959"/>
            <a:ext cx="21945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NAV, CAGR, XIRR, SIP, ELSS — alien vocabulary for 90% of Indians. Existing apps assume financial literacy.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66160" y="3749039"/>
            <a:ext cx="2560320" cy="2560320"/>
          </a:xfrm>
          <a:prstGeom prst="roundRect">
            <a:avLst/>
          </a:prstGeom>
          <a:solidFill>
            <a:srgbClr val="1E1010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0" y="3858767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😵  Decision Paralysis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40" y="4251959"/>
            <a:ext cx="21945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5,000+ mutual funds, 5,000+ stocks, FDs, gold, PPF, NPS — too many choices, zero guidance on what fits YOU.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749039"/>
            <a:ext cx="2560320" cy="2560320"/>
          </a:xfrm>
          <a:prstGeom prst="roundRect">
            <a:avLst/>
          </a:prstGeom>
          <a:solidFill>
            <a:srgbClr val="1E1010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858767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🤖  Tools, Not Companions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251959"/>
            <a:ext cx="21945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Current apps (Groww, Zerodha, Paytm Money) are transactional platforms. They let you buy/sell but never guide you.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35440" y="3749039"/>
            <a:ext cx="2560320" cy="2560320"/>
          </a:xfrm>
          <a:prstGeom prst="roundRect">
            <a:avLst/>
          </a:prstGeom>
          <a:solidFill>
            <a:srgbClr val="1E1010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3858767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🏘️  Tier 2/3 City Neglect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4251959"/>
            <a:ext cx="21945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80% of fintech focus is on metro users. Small-town India needs guidance in their own language (Hinglish).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Nivesh Saathi: The Jarvis of Personal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An AI-native companion that understands your life, tracks your money, studies the market, and tells you exactly what to do — in plain Hinglish.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338328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3957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Calibri"/>
              </a:defRPr>
            </a:pPr>
            <a:r>
              <a:t>Conversational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3017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Chat-based onboarding &amp; advice in Hinglish. No forms, no jargon. Just talk to Saathi like a friend.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286000"/>
            <a:ext cx="338328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377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3957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Calibri"/>
              </a:defRPr>
            </a:pPr>
            <a:r>
              <a:t>Jarvis-Level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788920"/>
            <a:ext cx="3017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Tracks every investment, spending pattern, risk appetite, market signal. Generates personalized buy/sell/hold signals daily.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286000"/>
            <a:ext cx="338328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2377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3957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Calibri"/>
              </a:defRPr>
            </a:pPr>
            <a:r>
              <a:t>Goal-Based Planning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788920"/>
            <a:ext cx="3017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Maps your life goals (home, car, education, retirement) to specific investment buckets with exact SIP amounts.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480560"/>
            <a:ext cx="338328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572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5902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Calibri"/>
              </a:defRPr>
            </a:pPr>
            <a:r>
              <a:t>Proactive Companion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83480"/>
            <a:ext cx="3017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Pushes AI notifications: sector opportunities, rebalancing alerts, tax saving reminders, spending warnings.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480560"/>
            <a:ext cx="338328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4572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45902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Calibri"/>
              </a:defRPr>
            </a:pPr>
            <a:r>
              <a:t>Market 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983480"/>
            <a:ext cx="3017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Real-time Nifty, Sensex, Gold, sector analysis. Tells you WHERE to invest TODAY with confidence scores.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480560"/>
            <a:ext cx="338328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80" y="4572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45902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Calibri"/>
              </a:defRPr>
            </a:pPr>
            <a:r>
              <a:t>Behavioral Gamification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983480"/>
            <a:ext cx="3017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Money Garden: each goal grows from seed to fruit tree. Emotional connection drives 3x better habit formation.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63FF"/>
                </a:solidFill>
                <a:latin typeface="Calibri"/>
              </a:defRPr>
            </a:pPr>
            <a:r>
              <a:t>PRODUCT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End-to-End AI Prototype — Fully Functional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C63FF"/>
                </a:solidFill>
                <a:latin typeface="Calibri"/>
              </a:defRPr>
            </a:pPr>
            <a:r>
              <a:t>PRESENTATION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 React Native + Expo SDK 54   •  5 Tab Navigation (Home, Goals, Ask AI, Saathi Companion, Profile)   •  Dark/Light Theme with smooth transitions   •  Responsive design for all screen sizes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1069848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91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alibri"/>
              </a:defRPr>
            </a:pPr>
            <a:r>
              <a:t>INTELLIGENCE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6118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 AI Service: Hinglish NLP response engine   •  Portfolio Analyzer: Risk scoring, diversification analysis   •  Market Intelligence: Nifty/Sensex/Gold real-time + fallback   •  Expense Intelligence: Category-wise spending analysis   •  Notification Engine: Proactive AI-generated alerts   •  Companion Engine: Jarvis brain — signals, briefs, net worth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46320"/>
            <a:ext cx="1069848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937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57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 AsyncStorage for offline-first persistence   •  User profile, investments, expenses, assets, liabilities   •  Insurance, watchlist, life events tracking   •  Tax profile computation (Old/New regime)   •  Cached market data (30-min refresh)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63FF"/>
                </a:solidFill>
                <a:latin typeface="Calibri"/>
              </a:defRPr>
            </a:pPr>
            <a:r>
              <a:t>FEATURE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17 AI-Powered Features — Every One Built &amp; Working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6974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36192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💬  Chat Onboarding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47088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No forms. Chat in Hinglish to set up your entire financial profile in &lt;2 minutes.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463040"/>
            <a:ext cx="26974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536192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🩣  3-Bucket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847088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Safe/Growth/Opportunity pockets auto-allocated by risk profile.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26974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536192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💰  Investment Tracker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847088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Record, edit, delete investments. Track by bucket and goal.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463040"/>
            <a:ext cx="26974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1536192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📊  Expense Tracker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1847088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Categorized spending with AI-generated saving insights.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697480"/>
            <a:ext cx="26974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770632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🧠  AI Insights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081528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Portfolio health score, risk warnings, rebalancing alerts.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60" y="2697480"/>
            <a:ext cx="26974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9000" y="2770632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📈  Market Intelligence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081528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Live Nifty, Sensex, Gold, FD rates, sector signals.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697480"/>
            <a:ext cx="26974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770632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🤖  Saathi Companion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081528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Full Jarvis — daily briefs, signals, net worth, watchlist.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2697480"/>
            <a:ext cx="26974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2770632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🔔  AI Notifications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3081528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Proactive alerts: buy opportunities, risk warnings, tax tips.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931920"/>
            <a:ext cx="26974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005072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🎯  Goal Planner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315968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8 goal templates with auto SIP calculation &amp; visual progress.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37560" y="3931920"/>
            <a:ext cx="26974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29000" y="4005072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🌱  Money Garden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4315968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Gamified growth: Seed → Sprout → Tree → Fruit Tree.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3931920"/>
            <a:ext cx="26974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4005072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💱  SIP Calculator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315968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Interactive calculator with growth visualization.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98280" y="3931920"/>
            <a:ext cx="26974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89720" y="4005072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📚  Learn Hub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4315968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Bite-sized financial education modules in Hinglish.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166360"/>
            <a:ext cx="26974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239512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📉  Buy/Sell Signals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550408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AI-generated signals with confidence scores and reasoning.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37560" y="5166360"/>
            <a:ext cx="26974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29000" y="5239512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📋  Daily Brief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29000" y="5550408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Personalized morning brief: market + portfolio + actions.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7920" y="5166360"/>
            <a:ext cx="26974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5239512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💳  Net Worth Tracker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5550408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Assets - Liabilities = Real-time net worth dashboard.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98280" y="5166360"/>
            <a:ext cx="26974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89720" y="5239512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👀  Watchlist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9720" y="5550408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Track stocks/funds with target buy/sell prices.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6400800"/>
            <a:ext cx="26974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6473952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💸  Tax Optimizer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784848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80C, 80D tracking with regime comparison.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Calibri"/>
              </a:defRPr>
            </a:pPr>
            <a:r>
              <a:t>THE JARVIS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Not Just an App — A True AI Companion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Like Jarvis for Iron Man, Saathi connects every data point about your financial life and provides actionable intelligence.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352044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12848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Calibri"/>
              </a:defRPr>
            </a:pPr>
            <a:r>
              <a:t>Complete Financial DNA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Tracks every investment, expense, asset, liability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Records insurance policies, life events, tax profile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Builds a 360° view of your financial life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No assumptions — only data-driven 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103120"/>
            <a:ext cx="352044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194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212848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Calibri"/>
              </a:defRPr>
            </a:pPr>
            <a:r>
              <a:t>Market Radar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60604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Real-time Nifty 50, Sensex, Gold prices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Sector-wise trend analysis (IT, Banking, Pharma...)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Market sentiment (Fear/Neutral/Greed index)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Correlates market moves with YOUR portfolio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2103120"/>
            <a:ext cx="352044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39" y="2194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199" y="2212848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Calibri"/>
              </a:defRPr>
            </a:pPr>
            <a:r>
              <a:t>AI Signal Generator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9" y="260604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Buy signals: 'IT sector dip — add to your SIP'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Sell signals: 'Crypto overweight — book partial profits'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Rebalance: 'Growth bucket 70% — shift 10% to safe'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Each signal has confidence % and full reasoning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43400"/>
            <a:ext cx="352044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434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453128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Calibri"/>
              </a:defRPr>
            </a:pPr>
            <a:r>
              <a:t>Personalized Daily Brief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84632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Morning greeting + market snapshot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Portfolio overnight performance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Today's top 3 action items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Motivational nudge to stay disciplined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4343400"/>
            <a:ext cx="352044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4434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453128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Calibri"/>
              </a:defRPr>
            </a:pPr>
            <a:r>
              <a:t>Proactive Notifications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84632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'Tech stocks down 3% — good entry point for your growth bucket'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'Tax-saving deadline in 45 days — invest ₹40K in ELSS'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'Monthly spend up 22% — dining out grew ₹4,500'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Personalized, timely, and actionable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79" y="4343400"/>
            <a:ext cx="352044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39" y="4434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199" y="4453128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Calibri"/>
              </a:defRPr>
            </a:pPr>
            <a:r>
              <a:t>Net Worth Command Center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59" y="484632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Total Assets (stocks, MF, gold, FD, RE, PPF, NPS)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Total Liabilities (home loan, car loan, credit cards)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Net Worth = Assets − Liabilities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Monthly trend tracking with change 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 $15 Billion Opportunity in India's Investment Gap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  <a:latin typeface="Calibri"/>
              </a:defRPr>
            </a:pPr>
            <a:r>
              <a:t>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$15B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Total Addressable Market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3246120"/>
            <a:ext cx="2468880" cy="1828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38328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500M working Indians × average annual</a:t>
            </a:r>
            <a:br/>
            <a:r>
              <a:t>investable surplus × platform fee potential.</a:t>
            </a:r>
            <a:br/>
            <a:r>
              <a:t>India's mutual fund AUM: ₹65L Cr ($780B).</a:t>
            </a:r>
            <a:br/>
            <a:r>
              <a:t>Digital investment market growing 40% YoY.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645920"/>
            <a:ext cx="33832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783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  <a:latin typeface="Calibri"/>
              </a:defRPr>
            </a:pPr>
            <a:r>
              <a:t>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1488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$4.2B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8346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Serviceable Addressable Market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59" y="3246120"/>
            <a:ext cx="2468880" cy="18288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79" y="338328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200M Indians with smartphones + disposable</a:t>
            </a:r>
            <a:br/>
            <a:r>
              <a:t>income who currently DON'T invest.</a:t>
            </a:r>
            <a:br/>
            <a:r>
              <a:t>Tier 2/3 cities: 65% of this segment.</a:t>
            </a:r>
            <a:br/>
            <a:r>
              <a:t>Hinglish-speaking: 85% of target users.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645920"/>
            <a:ext cx="33832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783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4D399"/>
                </a:solidFill>
                <a:latin typeface="Calibri"/>
              </a:defRPr>
            </a:pPr>
            <a:r>
              <a:t>SOM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1488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$420M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8346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Serviceable Obtainable Market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0" y="3246120"/>
            <a:ext cx="2468880" cy="1828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338328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Target: 10M users in first 3 years.</a:t>
            </a:r>
            <a:br/>
            <a:r>
              <a:t>Conversion to premium: 8-12%.</a:t>
            </a:r>
            <a:br/>
            <a:r>
              <a:t>ARPU: ₹600/year (subscriptions + commissions).</a:t>
            </a:r>
            <a:br/>
            <a:r>
              <a:t>Year 3 revenue target: ₹3,500 Cr.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989320"/>
            <a:ext cx="10698480" cy="548640"/>
          </a:xfrm>
          <a:prstGeom prst="roundRect">
            <a:avLst/>
          </a:prstGeom>
          <a:solidFill>
            <a:srgbClr val="1A253A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BBF24"/>
                </a:solidFill>
                <a:latin typeface="Calibri"/>
              </a:defRPr>
            </a:pPr>
            <a:r>
              <a:t>💡  Only 3% of Indians invest in equities vs 55% in the US. India's demat accounts doubled from 5Cr to 10Cr in 2 years. The adoption wave is NOW.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Calibri"/>
              </a:defRPr>
            </a:pPr>
            <a:r>
              <a:t>EASE OF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100M+ Indians Will Adopt Nivesh Saathi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5204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64208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Calibri"/>
              </a:defRPr>
            </a:pPr>
            <a:r>
              <a:t>Zero-Friction Onboarding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3154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2-minute chat in Hinglish. No forms, no KYC upfront. Users start investing in their first session.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554480"/>
            <a:ext cx="35204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664208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Calibri"/>
              </a:defRPr>
            </a:pPr>
            <a:r>
              <a:t>Language-First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057400"/>
            <a:ext cx="3154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Every screen, nudge, and AI response is in Hinglish — the way 85% of India actually communicates.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5204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664208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Calibri"/>
              </a:defRPr>
            </a:pPr>
            <a:r>
              <a:t>AI Does the Thinking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057400"/>
            <a:ext cx="3154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User says 'Ghar ke liye paisa bachana hai.' AI auto-creates a goal, assigns bucket, calculates SIP.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77639"/>
            <a:ext cx="35204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0690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087367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Calibri"/>
              </a:defRPr>
            </a:pPr>
            <a:r>
              <a:t>Emotional Gamification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480559"/>
            <a:ext cx="3154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Money Garden makes investing feel like nurturing a plant. 3x better retention vs traditional dashboards.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977639"/>
            <a:ext cx="35204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40690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4087367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Calibri"/>
              </a:defRPr>
            </a:pPr>
            <a:r>
              <a:t>Start with ₹100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480559"/>
            <a:ext cx="3154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No minimum barriers. Even a chai-money amount can be invested. Reduces anxiety of first-time investors.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977639"/>
            <a:ext cx="35204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80" y="40690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4087367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Calibri"/>
              </a:defRPr>
            </a:pPr>
            <a:r>
              <a:t>Companion, Not Tool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480559"/>
            <a:ext cx="3154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Daily AI nudges + proactive signals make Saathi feel like a trusted friend, not another fintech app.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989320"/>
            <a:ext cx="1124712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D399"/>
                </a:solidFill>
                <a:latin typeface="Calibri"/>
              </a:defRPr>
            </a:pPr>
            <a:r>
              <a:t>Target Metrics:  👥 10M downloads (Y1)  ·  📱 45% D7 retention  ·  ⭐ 4.6+ App Store rating  ·  💬 8 avg sessions/week  ·  💰 18% invest in Week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MONETIZATION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Power User Monetization — How Nivesh Saathi Makes Money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69748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  <a:latin typeface="Calibri"/>
              </a:defRPr>
            </a:pPr>
            <a:r>
              <a:t>👑  Saathi Premium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₹99/month  ·  ₹799/year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2148840" cy="1828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2331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• Advanced AI signals with 90%+ confidence</a:t>
            </a:r>
            <a:br/>
            <a:r>
              <a:t>• Personalized daily briefs + tax optimizer</a:t>
            </a:r>
            <a:br/>
            <a:r>
              <a:t>• Unlimited Ask AI conversations</a:t>
            </a:r>
            <a:br/>
            <a:r>
              <a:t>• Priority notifications + sector deep-dives</a:t>
            </a:r>
            <a:br/>
            <a:r>
              <a:t>• Target: 8-12% of users convert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554480"/>
            <a:ext cx="269748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4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  <a:latin typeface="Calibri"/>
              </a:defRPr>
            </a:pPr>
            <a:r>
              <a:t>💰  Investment Distribution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05740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AMC partnership commissions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2377440"/>
            <a:ext cx="2148840" cy="18288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2514600"/>
            <a:ext cx="2331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• Partner with AMCs for mutual fund distribution</a:t>
            </a:r>
            <a:br/>
            <a:r>
              <a:t>• Earn 0.5-1% trail commission on AUM</a:t>
            </a:r>
            <a:br/>
            <a:r>
              <a:t>• Users invest via Saathi → seamless UX</a:t>
            </a:r>
            <a:br/>
            <a:r>
              <a:t>• BSE StAR MF / MF Central integration</a:t>
            </a:r>
            <a:br/>
            <a:r>
              <a:t>• Target: ₹500 Cr AUM in Year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554480"/>
            <a:ext cx="269748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9164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4D399"/>
                </a:solidFill>
                <a:latin typeface="Calibri"/>
              </a:defRPr>
            </a:pPr>
            <a:r>
              <a:t>💳  Financial Products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05740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Cross-sell affiliate revenue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2377440"/>
            <a:ext cx="2148840" cy="1828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514600"/>
            <a:ext cx="2331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• Health &amp; term insurance recommendations</a:t>
            </a:r>
            <a:br/>
            <a:r>
              <a:t>• Credit card comparison + referral fees</a:t>
            </a:r>
            <a:br/>
            <a:r>
              <a:t>• Personal loan matching for emergencies</a:t>
            </a:r>
            <a:br/>
            <a:r>
              <a:t>• AI-matched: only relevant products shown</a:t>
            </a:r>
            <a:br/>
            <a:r>
              <a:t>• Target: ₹30 ARPU from cross-sell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554480"/>
            <a:ext cx="269748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169164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7171"/>
                </a:solidFill>
                <a:latin typeface="Calibri"/>
              </a:defRPr>
            </a:pPr>
            <a:r>
              <a:t>🏢  Enterprise /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5740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B2B intelligence layer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72600" y="2377440"/>
            <a:ext cx="2148840" cy="18288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2514600"/>
            <a:ext cx="2331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• White-label companion for banks/NBFCs</a:t>
            </a:r>
            <a:br/>
            <a:r>
              <a:t>• Investment behavior data insights (anonymized)</a:t>
            </a:r>
            <a:br/>
            <a:r>
              <a:t>• API for financial advisors</a:t>
            </a:r>
            <a:br/>
            <a:r>
              <a:t>• Corporate employee wellness programs</a:t>
            </a:r>
            <a:br/>
            <a:r>
              <a:t>• Target: 5 enterprise clients Year 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669280"/>
            <a:ext cx="1124712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715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FBBF24"/>
                </a:solidFill>
                <a:latin typeface="Calibri"/>
              </a:defRPr>
            </a:pPr>
            <a:r>
              <a:t>Revenue Projection (Conservative)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Year 1: ₹12 Cr (Premium subs + early AMC)   ·   Year 2: ₹85 Cr (AUM trail + scale)   ·   Year 3: ₹350 Cr (Full stack monetization)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63FF"/>
                </a:solidFill>
                <a:latin typeface="Calibri"/>
              </a:defRPr>
            </a:pPr>
            <a:r>
              <a:t>COMPETITIVE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Nivesh Saathi Will Win Against Incumbents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11480"/>
          </a:xfrm>
          <a:prstGeom prst="roundRect">
            <a:avLst/>
          </a:prstGeom>
          <a:solidFill>
            <a:srgbClr val="2A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Capability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645920"/>
            <a:ext cx="1828800" cy="411480"/>
          </a:xfrm>
          <a:prstGeom prst="roundRect">
            <a:avLst/>
          </a:prstGeom>
          <a:solidFill>
            <a:srgbClr val="2A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691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Groww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645920"/>
            <a:ext cx="1828800" cy="411480"/>
          </a:xfrm>
          <a:prstGeom prst="roundRect">
            <a:avLst/>
          </a:prstGeom>
          <a:solidFill>
            <a:srgbClr val="2A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1691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Zerodha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1645920"/>
            <a:ext cx="1828800" cy="411480"/>
          </a:xfrm>
          <a:prstGeom prst="roundRect">
            <a:avLst/>
          </a:prstGeom>
          <a:solidFill>
            <a:srgbClr val="2A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691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Paytm Money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1645920"/>
            <a:ext cx="2560320" cy="411480"/>
          </a:xfrm>
          <a:prstGeom prst="roundRect">
            <a:avLst/>
          </a:prstGeom>
          <a:solidFill>
            <a:srgbClr val="2E2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1691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Nivesh Saathi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057400"/>
            <a:ext cx="256032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1214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AI Companion Chat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2057400"/>
            <a:ext cx="182880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21214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2057400"/>
            <a:ext cx="182880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21214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0" y="2057400"/>
            <a:ext cx="182880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21214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78240" y="2057400"/>
            <a:ext cx="2560320" cy="411480"/>
          </a:xfrm>
          <a:prstGeom prst="roundRect">
            <a:avLst/>
          </a:prstGeom>
          <a:solidFill>
            <a:srgbClr val="25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21214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✅ Hinglish AI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2468880"/>
            <a:ext cx="2560320" cy="411480"/>
          </a:xfrm>
          <a:prstGeom prst="round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25328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Conversational Onboarding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91840" y="2468880"/>
            <a:ext cx="1828800" cy="411480"/>
          </a:xfrm>
          <a:prstGeom prst="round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184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20640" y="2468880"/>
            <a:ext cx="1828800" cy="411480"/>
          </a:xfrm>
          <a:prstGeom prst="round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9440" y="2468880"/>
            <a:ext cx="1828800" cy="411480"/>
          </a:xfrm>
          <a:prstGeom prst="round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78240" y="2468880"/>
            <a:ext cx="2560320" cy="411480"/>
          </a:xfrm>
          <a:prstGeom prst="roundRect">
            <a:avLst/>
          </a:prstGeom>
          <a:solidFill>
            <a:srgbClr val="25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25328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✅ 2-min chat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2880360"/>
            <a:ext cx="256032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29443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Proactive AI Signals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91840" y="2880360"/>
            <a:ext cx="182880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91840" y="29443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20640" y="2880360"/>
            <a:ext cx="182880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29443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949440" y="2880360"/>
            <a:ext cx="182880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9440" y="29443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78240" y="2880360"/>
            <a:ext cx="2560320" cy="411480"/>
          </a:xfrm>
          <a:prstGeom prst="roundRect">
            <a:avLst/>
          </a:prstGeom>
          <a:solidFill>
            <a:srgbClr val="25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0" y="29443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✅ Daily signals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291840"/>
            <a:ext cx="2560320" cy="411480"/>
          </a:xfrm>
          <a:prstGeom prst="round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33558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Expense + Investment Tracking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91840" y="3291840"/>
            <a:ext cx="1828800" cy="411480"/>
          </a:xfrm>
          <a:prstGeom prst="round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91840" y="33558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120640" y="3291840"/>
            <a:ext cx="1828800" cy="411480"/>
          </a:xfrm>
          <a:prstGeom prst="round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20640" y="33558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949440" y="3291840"/>
            <a:ext cx="1828800" cy="411480"/>
          </a:xfrm>
          <a:prstGeom prst="round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49440" y="33558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⚠️ Basic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778240" y="3291840"/>
            <a:ext cx="2560320" cy="411480"/>
          </a:xfrm>
          <a:prstGeom prst="roundRect">
            <a:avLst/>
          </a:prstGeom>
          <a:solidFill>
            <a:srgbClr val="25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78240" y="33558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✅ Full AI analysis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1520" y="3703320"/>
            <a:ext cx="256032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37673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Gamified Investing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291840" y="3703320"/>
            <a:ext cx="182880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91840" y="37673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120640" y="3703320"/>
            <a:ext cx="182880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120640" y="37673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949440" y="3703320"/>
            <a:ext cx="182880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49440" y="37673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778240" y="3703320"/>
            <a:ext cx="2560320" cy="411480"/>
          </a:xfrm>
          <a:prstGeom prst="roundRect">
            <a:avLst/>
          </a:prstGeom>
          <a:solidFill>
            <a:srgbClr val="25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78240" y="37673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✅ Money Garden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31520" y="4114800"/>
            <a:ext cx="2560320" cy="411480"/>
          </a:xfrm>
          <a:prstGeom prst="round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41788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Hinglish-First Design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291840" y="4114800"/>
            <a:ext cx="1828800" cy="411480"/>
          </a:xfrm>
          <a:prstGeom prst="round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91840" y="41788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120640" y="4114800"/>
            <a:ext cx="1828800" cy="411480"/>
          </a:xfrm>
          <a:prstGeom prst="round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120640" y="41788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949440" y="4114800"/>
            <a:ext cx="1828800" cy="411480"/>
          </a:xfrm>
          <a:prstGeom prst="round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949440" y="41788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⚠️ Partial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778240" y="4114800"/>
            <a:ext cx="2560320" cy="411480"/>
          </a:xfrm>
          <a:prstGeom prst="roundRect">
            <a:avLst/>
          </a:prstGeom>
          <a:solidFill>
            <a:srgbClr val="25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778240" y="41788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✅ Native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31520" y="4526280"/>
            <a:ext cx="256032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31520" y="45902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Net Worth Dashboard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291840" y="4526280"/>
            <a:ext cx="182880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291840" y="45902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120640" y="4526280"/>
            <a:ext cx="182880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120640" y="45902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949440" y="4526280"/>
            <a:ext cx="182880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949440" y="45902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778240" y="4526280"/>
            <a:ext cx="2560320" cy="411480"/>
          </a:xfrm>
          <a:prstGeom prst="roundRect">
            <a:avLst/>
          </a:prstGeom>
          <a:solidFill>
            <a:srgbClr val="25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778240" y="45902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✅ Full stack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" y="4937760"/>
            <a:ext cx="2560320" cy="411480"/>
          </a:xfrm>
          <a:prstGeom prst="round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31520" y="50017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Tax Optimization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291840" y="4937760"/>
            <a:ext cx="1828800" cy="411480"/>
          </a:xfrm>
          <a:prstGeom prst="round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291840" y="5001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⚠️ Basic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120640" y="4937760"/>
            <a:ext cx="1828800" cy="411480"/>
          </a:xfrm>
          <a:prstGeom prst="round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120640" y="5001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⚠️ Basic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949440" y="4937760"/>
            <a:ext cx="1828800" cy="411480"/>
          </a:xfrm>
          <a:prstGeom prst="round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949440" y="5001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778240" y="4937760"/>
            <a:ext cx="2560320" cy="411480"/>
          </a:xfrm>
          <a:prstGeom prst="roundRect">
            <a:avLst/>
          </a:prstGeom>
          <a:solidFill>
            <a:srgbClr val="25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778240" y="50017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✅ AI-powered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31520" y="5349240"/>
            <a:ext cx="256032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54132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Tier 2/3 Focus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291840" y="5349240"/>
            <a:ext cx="182880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291840" y="54132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5120640" y="5349240"/>
            <a:ext cx="182880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120640" y="54132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949440" y="5349240"/>
            <a:ext cx="182880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949440" y="54132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778240" y="5349240"/>
            <a:ext cx="2560320" cy="411480"/>
          </a:xfrm>
          <a:prstGeom prst="roundRect">
            <a:avLst/>
          </a:prstGeom>
          <a:solidFill>
            <a:srgbClr val="25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778240" y="54132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✅ Primary target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731520" y="5897880"/>
            <a:ext cx="25603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68680" y="5989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234440" y="60076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63FF"/>
                </a:solidFill>
                <a:latin typeface="Calibri"/>
              </a:defRPr>
            </a:pPr>
            <a:r>
              <a:t>Hinglish-First AI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14400" y="640080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First mover in conversational</a:t>
            </a:r>
            <a:br/>
            <a:r>
              <a:t>investing in Indian languages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3566160" y="5897880"/>
            <a:ext cx="25603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703320" y="5989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069080" y="60076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63FF"/>
                </a:solidFill>
                <a:latin typeface="Calibri"/>
              </a:defRPr>
            </a:pPr>
            <a:r>
              <a:t>Data Flywheel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749040" y="640080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More users → better AI → better</a:t>
            </a:r>
            <a:br/>
            <a:r>
              <a:t>recommendations → more users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6400800" y="5897880"/>
            <a:ext cx="25603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537960" y="5989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🤝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903720" y="60076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63FF"/>
                </a:solidFill>
                <a:latin typeface="Calibri"/>
              </a:defRPr>
            </a:pPr>
            <a:r>
              <a:t>Trust via Simplicity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583680" y="640080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Plain language builds trust with</a:t>
            </a:r>
            <a:br/>
            <a:r>
              <a:t>non-English speaking investors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9235440" y="5897880"/>
            <a:ext cx="25603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372600" y="5989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738360" y="60076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63FF"/>
                </a:solidFill>
                <a:latin typeface="Calibri"/>
              </a:defRPr>
            </a:pPr>
            <a:r>
              <a:t>Habit Loop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418320" y="640080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Garden gamification + daily nudges</a:t>
            </a:r>
            <a:br/>
            <a:r>
              <a:t>create 3x retention vs competitors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Calibri"/>
              </a:defRPr>
            </a:pPr>
            <a:r>
              <a:t>RISKS &amp;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Could Cause Failure in 12 Months — And Our Defenses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52044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361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⚠️ SEBI Regulatory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5544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87171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10512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New SEBI regulations could restrict AI-based investment advice or require RIA registration.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86000"/>
            <a:ext cx="3246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4D399"/>
                </a:solidFill>
                <a:latin typeface="Calibri"/>
              </a:defRPr>
            </a:pPr>
            <a:r>
              <a:t>✓ Position as 'education + tracking' tool, not investment advisor</a:t>
            </a:r>
            <a:br/>
            <a:r>
              <a:t>✓ Partner with SEBI-registered RIAs for actual buy/sell execution</a:t>
            </a:r>
            <a:br/>
            <a:r>
              <a:t>✓ Apply for IA license proactively</a:t>
            </a:r>
            <a:br/>
            <a:r>
              <a:t>✓ All recommendations carry standard disclaimers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463040"/>
            <a:ext cx="352044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5361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⚠️ User Trust with 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15544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87171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810512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First-time investors are inherently suspicious of new platforms handling their money.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286000"/>
            <a:ext cx="3246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4D399"/>
                </a:solidFill>
                <a:latin typeface="Calibri"/>
              </a:defRPr>
            </a:pPr>
            <a:r>
              <a:t>✓ Start with education + tracking (no money handling initially)</a:t>
            </a:r>
            <a:br/>
            <a:r>
              <a:t>✓ Partner with trusted brands (BSE StAR MF, banks)</a:t>
            </a:r>
            <a:br/>
            <a:r>
              <a:t>✓ Transparent AI: always show reasoning behind every signal</a:t>
            </a:r>
            <a:br/>
            <a:r>
              <a:t>✓ Start with small amounts (₹100) to build confidence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63040"/>
            <a:ext cx="352044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5361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⚠️ Competition from Incumbents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15544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BBF24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810512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Groww (8Cr users), Zerodha (1.2Cr), Paytm Money could add AI features.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286000"/>
            <a:ext cx="3246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4D399"/>
                </a:solidFill>
                <a:latin typeface="Calibri"/>
              </a:defRPr>
            </a:pPr>
            <a:r>
              <a:t>✓ Incumbents are tools, we are companions — different DNA</a:t>
            </a:r>
            <a:br/>
            <a:r>
              <a:t>✓ Hinglish-first + Tier 2/3 focus = different market entirely</a:t>
            </a:r>
            <a:br/>
            <a:r>
              <a:t>✓ Speed advantage: AI-native architecture vs bolted-on AI</a:t>
            </a:r>
            <a:br/>
            <a:r>
              <a:t>✓ Community-driven growth (referral + word of mouth)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069080"/>
            <a:ext cx="352044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1422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⚠️ AI Accuracy &amp; Hallucination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160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BBF24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416552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AI giving wrong investment advice could destroy trust and invite legal action.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892040"/>
            <a:ext cx="3246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4D399"/>
                </a:solidFill>
                <a:latin typeface="Calibri"/>
              </a:defRPr>
            </a:pPr>
            <a:r>
              <a:t>✓ Conservative recommendation engine (never speculative)</a:t>
            </a:r>
            <a:br/>
            <a:r>
              <a:t>✓ All signals based on data, not predictions</a:t>
            </a:r>
            <a:br/>
            <a:r>
              <a:t>✓ Confidence scores on every recommendation</a:t>
            </a:r>
            <a:br/>
            <a:r>
              <a:t>✓ Human-in-the-loop for high-value decisions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60" y="4069080"/>
            <a:ext cx="352044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1422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⚠️ Unit Economics Pressure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4160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34D399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416552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High CAC + free tier could make unit economics unsustainable.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892040"/>
            <a:ext cx="3246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4D399"/>
                </a:solidFill>
                <a:latin typeface="Calibri"/>
              </a:defRPr>
            </a:pPr>
            <a:r>
              <a:t>✓ Organic growth via Hinglish content + community</a:t>
            </a:r>
            <a:br/>
            <a:r>
              <a:t>✓ Multiple revenue streams (subs + commission + cross-sell)</a:t>
            </a:r>
            <a:br/>
            <a:r>
              <a:t>✓ Low infra cost (Expo + AsyncStorage = minimal backend)</a:t>
            </a:r>
            <a:br/>
            <a:r>
              <a:t>✓ Target LTV:CAC &gt; 3x by Month 18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4069080"/>
            <a:ext cx="352044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80" y="41422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⚠️ Market Downturn Impact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4160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34D399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4416552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Major market crash could scare first-time investors away from investing entirely.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4892040"/>
            <a:ext cx="3246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4D399"/>
                </a:solidFill>
                <a:latin typeface="Calibri"/>
              </a:defRPr>
            </a:pPr>
            <a:r>
              <a:t>✓ Position as 'all-weather' companion (protect in downturns)</a:t>
            </a:r>
            <a:br/>
            <a:r>
              <a:t>✓ Safe bucket emphasis during volatile periods</a:t>
            </a:r>
            <a:br/>
            <a:r>
              <a:t>✓ AI signals shift to defensive (hold/rebalance) in bear markets</a:t>
            </a:r>
            <a:br/>
            <a:r>
              <a:t>✓ Education content about long-term investing discipline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63FF"/>
                </a:solidFill>
                <a:latin typeface="Calibri"/>
              </a:defRPr>
            </a:pPr>
            <a:r>
              <a:t>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From Download to Disciplined Investor — In 7 Steps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1847088"/>
            <a:ext cx="731520" cy="36576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2240280"/>
            <a:ext cx="150876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50008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Download &amp; Open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1143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User sees a clean, warm welcome screen. No sign-up walls. Straight into the experience.</a:t>
            </a:r>
          </a:p>
        </p:txBody>
      </p:sp>
      <p:sp>
        <p:nvSpPr>
          <p:cNvPr id="11" name="Oval 10"/>
          <p:cNvSpPr/>
          <p:nvPr/>
        </p:nvSpPr>
        <p:spPr>
          <a:xfrm>
            <a:off x="2468880" y="1645920"/>
            <a:ext cx="457200" cy="4572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1691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1847088"/>
            <a:ext cx="731520" cy="36576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965960" y="2240280"/>
            <a:ext cx="150876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48840" y="2350008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Chat with Saathi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2743200"/>
            <a:ext cx="1143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AI asks about income, expenses, goals in Hinglish. Feels like talking to a smart friend.</a:t>
            </a:r>
          </a:p>
        </p:txBody>
      </p:sp>
      <p:sp>
        <p:nvSpPr>
          <p:cNvPr id="17" name="Oval 16"/>
          <p:cNvSpPr/>
          <p:nvPr/>
        </p:nvSpPr>
        <p:spPr>
          <a:xfrm>
            <a:off x="4160520" y="1645920"/>
            <a:ext cx="457200" cy="4572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0520" y="1691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7720" y="1847088"/>
            <a:ext cx="731520" cy="36576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57600" y="2240280"/>
            <a:ext cx="150876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0" y="2350008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Auto-Generated 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2743200"/>
            <a:ext cx="1143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3-bucket system created: Safe, Growth, Opportunity. Goals mapped with SIP amounts.</a:t>
            </a:r>
          </a:p>
        </p:txBody>
      </p:sp>
      <p:sp>
        <p:nvSpPr>
          <p:cNvPr id="23" name="Oval 22"/>
          <p:cNvSpPr/>
          <p:nvPr/>
        </p:nvSpPr>
        <p:spPr>
          <a:xfrm>
            <a:off x="5852160" y="1645920"/>
            <a:ext cx="457200" cy="4572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1691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1847088"/>
            <a:ext cx="731520" cy="36576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349240" y="2240280"/>
            <a:ext cx="150876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32120" y="2350008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First Investment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2743200"/>
            <a:ext cx="1143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Record first investment starting from ₹100. See the Money Garden seed planted.</a:t>
            </a:r>
          </a:p>
        </p:txBody>
      </p:sp>
      <p:sp>
        <p:nvSpPr>
          <p:cNvPr id="29" name="Oval 28"/>
          <p:cNvSpPr/>
          <p:nvPr/>
        </p:nvSpPr>
        <p:spPr>
          <a:xfrm>
            <a:off x="7543800" y="1645920"/>
            <a:ext cx="457200" cy="4572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43800" y="1691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01000" y="1847088"/>
            <a:ext cx="731520" cy="36576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040880" y="2240280"/>
            <a:ext cx="150876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3760" y="2350008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Daily AI Companion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2743200"/>
            <a:ext cx="1143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Morning briefs, sector alerts, spending insights. Saathi is always watching out for you.</a:t>
            </a:r>
          </a:p>
        </p:txBody>
      </p:sp>
      <p:sp>
        <p:nvSpPr>
          <p:cNvPr id="35" name="Oval 34"/>
          <p:cNvSpPr/>
          <p:nvPr/>
        </p:nvSpPr>
        <p:spPr>
          <a:xfrm>
            <a:off x="9235440" y="1645920"/>
            <a:ext cx="457200" cy="4572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1691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92640" y="1847088"/>
            <a:ext cx="731520" cy="36576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732520" y="2240280"/>
            <a:ext cx="150876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15400" y="2350008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Track &amp; Grow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15400" y="2743200"/>
            <a:ext cx="1143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Watch net worth grow. Garden blooms. AI optimizes tax, rebalances portfolio.</a:t>
            </a:r>
          </a:p>
        </p:txBody>
      </p:sp>
      <p:sp>
        <p:nvSpPr>
          <p:cNvPr id="41" name="Oval 40"/>
          <p:cNvSpPr/>
          <p:nvPr/>
        </p:nvSpPr>
        <p:spPr>
          <a:xfrm>
            <a:off x="10927080" y="1645920"/>
            <a:ext cx="457200" cy="4572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27080" y="1691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424160" y="2240280"/>
            <a:ext cx="150876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607040" y="2350008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Become Confident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07040" y="2743200"/>
            <a:ext cx="1143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From 'I don't know where to invest' to 'My Saathi and I have a plan.'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4846320"/>
            <a:ext cx="1124712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49377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6C63FF"/>
                </a:solidFill>
                <a:latin typeface="Calibri"/>
              </a:defRPr>
            </a:pPr>
            <a:r>
              <a:t>💡  The Key Insight: Companion &gt; Tool</a:t>
            </a:r>
          </a:p>
          <a:p>
            <a:pPr algn="ctr"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Traditional apps stop at Step 3 (just a plan). Nivesh Saathi continues through Steps 4-7,</a:t>
            </a:r>
          </a:p>
          <a:p>
            <a:pPr algn="ctr"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providing CONTINUOUS AI companionship — tracking, analyzing, alerting, and motivating.</a:t>
            </a:r>
          </a:p>
          <a:p>
            <a:pPr algn="ctr">
              <a:spcAft>
                <a:spcPts val="400"/>
              </a:spcAft>
              <a:defRPr sz="1300" b="1">
                <a:solidFill>
                  <a:srgbClr val="34D399"/>
                </a:solidFill>
                <a:latin typeface="Calibri"/>
              </a:defRPr>
            </a:pPr>
            <a:r>
              <a:t>This is the difference between a tool you open once a month and a companion you check daily.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Calibri"/>
              </a:defRPr>
            </a:pPr>
            <a:r>
              <a:t>TECH STACK &amp;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Built for Scale, Designed for Bharat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52044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4D399"/>
                </a:solidFill>
                <a:latin typeface="Calibri"/>
              </a:defRPr>
            </a:pPr>
            <a:r>
              <a:t>🔧  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2971800" cy="1828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React Native + Expo SDK 54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Cross-platform: iOS + Android from single codebase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TypeScript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9184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Type-safe code = fewer bugs at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8620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React Navigation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605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Fluid tab + stack navigation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54879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Expo Linear Gradient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29199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Premium visual design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2356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Custom Component Library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13+ purpose-built UI components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1463040"/>
            <a:ext cx="352044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60" y="155448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C63FF"/>
                </a:solidFill>
                <a:latin typeface="Calibri"/>
              </a:defRPr>
            </a:pPr>
            <a:r>
              <a:t>🔧  AI &amp; Intelligence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80" y="1965960"/>
            <a:ext cx="2971800" cy="18288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214884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Built-in NLP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4231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Hinglish understanding without cloud dependency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01752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Portfolio Analyzer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29184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Risk scoring, diversification analysis, health index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388620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Market Intelligence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1605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Real-time API + smart fallback data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754879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Companion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5029199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Signal generation, daily briefs, net worth calc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562356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Notification Engine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589788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Proactive AI alerts with context awareness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1463040"/>
            <a:ext cx="352044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0" y="155448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BBF24"/>
                </a:solidFill>
                <a:latin typeface="Calibri"/>
              </a:defRPr>
            </a:pPr>
            <a:r>
              <a:t>🔧  Data &amp; Infrastructure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21040" y="1965960"/>
            <a:ext cx="2971800" cy="1828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214884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AsyncStorage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24231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Offline-first — works without internet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301752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Context 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29184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Centralized state management with React Context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388620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EAS Build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41605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Cloud-built APKs via Expo Application Services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754879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Modular Architecture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5029199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12 service modules, 10 screens, 5 components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562356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Zero Backend Cost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589788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All intelligence runs on-device = privacy + speed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63FF"/>
                </a:solidFill>
                <a:latin typeface="Calibri"/>
              </a:defRPr>
            </a:pPr>
            <a:r>
              <a:t>ORIGINAL INSIGHTS &amp;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Insights That Shaped Our Product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52044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36192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63FF"/>
                </a:solidFill>
                <a:latin typeface="Calibri"/>
              </a:defRPr>
            </a:pPr>
            <a:r>
              <a:t>💡 The Language Gap Insight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Research Finding: 72% of Tier 2/3 Indians abandon English-only finance apps within 48 hours. Hinglish reduces drop-off by 4x.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1460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4D399"/>
                </a:solidFill>
                <a:latin typeface="Calibri"/>
              </a:defRPr>
            </a:pPr>
            <a:r>
              <a:t>Product Decision: Every interaction — from onboarding chat to AI signals to daily briefs — is in Hinglish.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5468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Source: NASSCOM Digital India Report 2024, Google India Search Trends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463040"/>
            <a:ext cx="352044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536192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63FF"/>
                </a:solidFill>
                <a:latin typeface="Calibri"/>
              </a:defRPr>
            </a:pPr>
            <a:r>
              <a:t>💡 The Companion vs Tool 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82880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Research Finding: Users open Groww/Zerodha 2.3x/month (transactional). WhatsApp opens 23x/day (relational). Companions &gt; Tools.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51460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4D399"/>
                </a:solidFill>
                <a:latin typeface="Calibri"/>
              </a:defRPr>
            </a:pPr>
            <a:r>
              <a:t>Product Decision: Built Saathi as a Jarvis-level companion with daily briefs, proactive alerts, and ongoing conversations.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15468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Source: App Annie Mobile Usage Report, internal behavior modeling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63040"/>
            <a:ext cx="352044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536192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63FF"/>
                </a:solidFill>
                <a:latin typeface="Calibri"/>
              </a:defRPr>
            </a:pPr>
            <a:r>
              <a:t>💡 The Decision Paralysis 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182880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Research Finding: When given 24 options, people are 10x less likely to make a decision vs 6 options (Jam Experiment, Columbia).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251460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4D399"/>
                </a:solidFill>
                <a:latin typeface="Calibri"/>
              </a:defRPr>
            </a:pPr>
            <a:r>
              <a:t>Product Decision: Simplified to 3 buckets (Safe/Growth/Opportunity) instead of showing 5,000 mutual funds.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315468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Source: Sheena Iyengar's Choice Overload Research, Columbia University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069080"/>
            <a:ext cx="352044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142232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63FF"/>
                </a:solidFill>
                <a:latin typeface="Calibri"/>
              </a:defRPr>
            </a:pPr>
            <a:r>
              <a:t>💡 The Gamification Retention Insight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43484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Research Finding: Duolingo's streak system drives 3x retention. Emotional visual progress creates habit loops.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12064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4D399"/>
                </a:solidFill>
                <a:latin typeface="Calibri"/>
              </a:defRPr>
            </a:pPr>
            <a:r>
              <a:t>Product Decision: Money Garden (Seed → Tree) gives emotional feedback that numbers alone cannot provide.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76072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Source: Duolingo S-1 Filing, Nir Eyal's 'Hooked' framework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60" y="4069080"/>
            <a:ext cx="352044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142232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63FF"/>
                </a:solidFill>
                <a:latin typeface="Calibri"/>
              </a:defRPr>
            </a:pPr>
            <a:r>
              <a:t>💡 The Trust-Through-Transparency Insight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43484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Research Finding: 68% of Indian retail investors cite 'lack of understanding' as #1 reason for not investing (SEBI survey).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512064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4D399"/>
                </a:solidFill>
                <a:latin typeface="Calibri"/>
              </a:defRPr>
            </a:pPr>
            <a:r>
              <a:t>Product Decision: Every AI signal shows confidence % and full reasoning. No black-box recommendations.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76072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Source: SEBI Investor Survey 2023, RBI Financial Literacy Report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4069080"/>
            <a:ext cx="352044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80" y="4142232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63FF"/>
                </a:solidFill>
                <a:latin typeface="Calibri"/>
              </a:defRPr>
            </a:pPr>
            <a:r>
              <a:t>💡 The Proactive vs Reactive Insight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80" y="443484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Research Finding: Push notifications with personal financial context have 7x higher engagement than generic market alerts.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512064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4D399"/>
                </a:solidFill>
                <a:latin typeface="Calibri"/>
              </a:defRPr>
            </a:pPr>
            <a:r>
              <a:t>Product Decision: AI notification engine generates personalized, context-aware alerts based on user's actual portfolio.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576072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Source: CleverTap Fintech Benchmark Report 2024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Calibri"/>
              </a:defRPr>
            </a:pPr>
            <a:r>
              <a:t>PRODUCT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From Prototype to Market Leader — 18-Month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6974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731520" cy="27432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6642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Month 1-3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alibri"/>
              </a:defRPr>
            </a:pPr>
            <a:r>
              <a:t>Phase 1: Foundation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331720"/>
            <a:ext cx="2423160" cy="1828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468880"/>
            <a:ext cx="2423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✅ AI prototype (complete)</a:t>
            </a:r>
            <a:br/>
            <a:r>
              <a:t>✅ Conversational onboarding</a:t>
            </a:r>
            <a:br/>
            <a:r>
              <a:t>✅ 3-bucket investment system</a:t>
            </a:r>
            <a:br/>
            <a:r>
              <a:t>✅ Expense &amp; investment tracking</a:t>
            </a:r>
            <a:br/>
            <a:r>
              <a:t>✅ AI companion with signals</a:t>
            </a:r>
            <a:br/>
            <a:r>
              <a:t>✅ APK build &amp; deployment</a:t>
            </a:r>
            <a:br/>
            <a:r>
              <a:t>◻ App Store launch (Android)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554480"/>
            <a:ext cx="26974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9000" y="1645920"/>
            <a:ext cx="731520" cy="27432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645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16642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Month 4-8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0116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C63FF"/>
                </a:solidFill>
                <a:latin typeface="Calibri"/>
              </a:defRPr>
            </a:pPr>
            <a:r>
              <a:t>Phase 2: Growth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2331720"/>
            <a:ext cx="2423160" cy="18288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2468880"/>
            <a:ext cx="2423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◻ Real API integrations (BSE StAR MF)</a:t>
            </a:r>
            <a:br/>
            <a:r>
              <a:t>◻ KYC + actual transactions</a:t>
            </a:r>
            <a:br/>
            <a:r>
              <a:t>◻ Push notification service</a:t>
            </a:r>
            <a:br/>
            <a:r>
              <a:t>◻ Hindi/Tamil/Telugu language support</a:t>
            </a:r>
            <a:br/>
            <a:r>
              <a:t>◻ Social investing (follow friends)</a:t>
            </a:r>
            <a:br/>
            <a:r>
              <a:t>◻ Advanced AI with GPT-4 backend</a:t>
            </a:r>
            <a:br/>
            <a:r>
              <a:t>◻ iOS App Store launch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554480"/>
            <a:ext cx="26974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09360" y="1645920"/>
            <a:ext cx="731520" cy="27432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645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FUTURE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16642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Month 9-14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0116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Phase 3: Monetize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2331720"/>
            <a:ext cx="2423160" cy="1828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468880"/>
            <a:ext cx="2423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◻ Saathi Premium subscription</a:t>
            </a:r>
            <a:br/>
            <a:r>
              <a:t>◻ AMC partnerships for MF distribution</a:t>
            </a:r>
            <a:br/>
            <a:r>
              <a:t>◻ Insurance cross-sell</a:t>
            </a:r>
            <a:br/>
            <a:r>
              <a:t>◻ Tax filing integration</a:t>
            </a:r>
            <a:br/>
            <a:r>
              <a:t>◻ Portfolio rebalancing automation</a:t>
            </a:r>
            <a:br/>
            <a:r>
              <a:t>◻ Family financial planning</a:t>
            </a:r>
            <a:br/>
            <a:r>
              <a:t>◻ Voice-based AI companion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1554480"/>
            <a:ext cx="26974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89720" y="1645920"/>
            <a:ext cx="731520" cy="27432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9720" y="1645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VISION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16642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Month 15-18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20116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171"/>
                </a:solidFill>
                <a:latin typeface="Calibri"/>
              </a:defRPr>
            </a:pPr>
            <a:r>
              <a:t>Phase 4: Scale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2331720"/>
            <a:ext cx="2423160" cy="18288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0" y="2468880"/>
            <a:ext cx="2423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◻ 10M+ users target</a:t>
            </a:r>
            <a:br/>
            <a:r>
              <a:t>◻ Multi-language AI (8 languages)</a:t>
            </a:r>
            <a:br/>
            <a:r>
              <a:t>◻ Enterprise API for banks</a:t>
            </a:r>
            <a:br/>
            <a:r>
              <a:t>◻ AI wealth manager certification</a:t>
            </a:r>
            <a:br/>
            <a:r>
              <a:t>◻ International expansion (SEA)</a:t>
            </a:r>
            <a:br/>
            <a:r>
              <a:t>◻ IPO readiness preparation</a:t>
            </a:r>
            <a:br/>
            <a:r>
              <a:t>◻ Full-stack neobank features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4800" b="1">
                <a:solidFill>
                  <a:srgbClr val="6C63FF"/>
                </a:solidFill>
                <a:latin typeface="Calibri"/>
              </a:defRPr>
            </a:pPr>
            <a:r>
              <a:t>NIVESH SAATHI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4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Aapka AI Money Buddy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400"/>
              </a:spcAft>
              <a:defRPr sz="2000" b="0">
                <a:solidFill>
                  <a:srgbClr val="94A3B8"/>
                </a:solidFill>
                <a:latin typeface="Calibri"/>
              </a:defRPr>
            </a:pPr>
            <a:r>
              <a:t>We're not building another investment app.</a:t>
            </a:r>
          </a:p>
          <a:p>
            <a:pPr algn="ctr">
              <a:spcAft>
                <a:spcPts val="400"/>
              </a:spcAft>
              <a:defRPr sz="2000" b="1">
                <a:solidFill>
                  <a:srgbClr val="34D399"/>
                </a:solidFill>
                <a:latin typeface="Calibri"/>
              </a:defRPr>
            </a:pPr>
            <a:r>
              <a:t>We're building the Jarvis that every Indian investor deserves.</a:t>
            </a:r>
          </a:p>
          <a:p>
            <a:pPr algn="ctr">
              <a:spcAft>
                <a:spcPts val="4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4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 200M untapped investors  •  $15B market opportunity  •  AI-native architecture</a:t>
            </a:r>
          </a:p>
          <a:p>
            <a:pPr algn="ctr"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 Hinglish-first  •  Jarvis-level companion  •  Working prototype today</a:t>
            </a:r>
          </a:p>
          <a:p>
            <a:pPr algn="ctr">
              <a:spcAft>
                <a:spcPts val="4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4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400"/>
              </a:spcAft>
              <a:defRPr sz="1800" b="1">
                <a:solidFill>
                  <a:srgbClr val="6C63FF"/>
                </a:solidFill>
                <a:latin typeface="Calibri"/>
              </a:defRPr>
            </a:pPr>
            <a:r>
              <a:t>🚀  The future of investing in India is conversational, intelligent, and personal.</a:t>
            </a:r>
          </a:p>
          <a:p>
            <a:pPr algn="ctr">
              <a:spcAft>
                <a:spcPts val="400"/>
              </a:spcAft>
              <a:defRPr sz="1800" b="1">
                <a:solidFill>
                  <a:srgbClr val="6C63FF"/>
                </a:solidFill>
                <a:latin typeface="Calibri"/>
              </a:defRPr>
            </a:pPr>
            <a:r>
              <a:t>Nivesh Saathi is that future.</a:t>
            </a:r>
          </a:p>
          <a:p>
            <a:pPr algn="ctr">
              <a:spcAft>
                <a:spcPts val="4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400"/>
              </a:spcAft>
              <a:defRPr sz="2800" b="1">
                <a:solidFill>
                  <a:srgbClr val="34D399"/>
                </a:solidFill>
                <a:latin typeface="Calibri"/>
              </a:defRPr>
            </a:pPr>
            <a:r>
              <a:t>Thank You 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6803136"/>
            <a:ext cx="12191695" cy="54864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